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2"/>
  </p:notesMasterIdLst>
  <p:sldIdLst>
    <p:sldId id="256" r:id="rId3"/>
    <p:sldId id="257" r:id="rId4"/>
    <p:sldId id="258" r:id="rId5"/>
    <p:sldId id="259" r:id="rId6"/>
    <p:sldId id="260" r:id="rId7"/>
    <p:sldId id="261" r:id="rId8"/>
    <p:sldId id="262" r:id="rId9"/>
    <p:sldId id="263" r:id="rId10"/>
    <p:sldId id="267" r:id="rId11"/>
    <p:sldId id="264" r:id="rId13"/>
    <p:sldId id="265" r:id="rId14"/>
    <p:sldId id="266" r:id="rId15"/>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notesMaster" Target="notesMasters/notesMaster1.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943" y="1143000"/>
            <a:ext cx="5486114"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宏观</a:t>
            </a:r>
            <a:r>
              <a:rPr lang="en-US" altLang="zh-CN"/>
              <a:t> CNN </a:t>
            </a:r>
            <a:r>
              <a:rPr lang="zh-CN" altLang="en-US"/>
              <a:t>定位是第三路证据流</a:t>
            </a:r>
            <a:r>
              <a:rPr lang="en-US" altLang="zh-CN"/>
              <a:t>,</a:t>
            </a:r>
            <a:r>
              <a:rPr lang="zh-CN" altLang="en-US"/>
              <a:t>与规则流互补而非替代</a:t>
            </a:r>
            <a:r>
              <a:rPr lang="en-US" altLang="zh-CN"/>
              <a:t>;</a:t>
            </a:r>
            <a:r>
              <a:rPr lang="zh-CN" altLang="en-US"/>
              <a:t>优先级</a:t>
            </a:r>
            <a:r>
              <a:rPr lang="en-US" altLang="zh-CN"/>
              <a:t>:</a:t>
            </a:r>
            <a:r>
              <a:rPr lang="zh-CN" altLang="en-US"/>
              <a:t>规则流</a:t>
            </a:r>
            <a:r>
              <a:rPr lang="en-US" altLang="zh-CN"/>
              <a:t>(</a:t>
            </a:r>
            <a:r>
              <a:rPr lang="zh-CN" altLang="en-US"/>
              <a:t>可解释、</a:t>
            </a:r>
            <a:r>
              <a:rPr lang="en-US" altLang="zh-CN"/>
              <a:t>92%)</a:t>
            </a:r>
            <a:r>
              <a:rPr lang="zh-CN" altLang="en-US"/>
              <a:t>为主</a:t>
            </a:r>
            <a:r>
              <a:rPr lang="en-US" altLang="zh-CN"/>
              <a:t>,CNN </a:t>
            </a:r>
            <a:r>
              <a:rPr lang="zh-CN" altLang="en-US"/>
              <a:t>辅助。</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1097280"/>
          </a:xfrm>
          <a:prstGeom prst="rect">
            <a:avLst/>
          </a:prstGeom>
          <a:noFill/>
        </p:spPr>
        <p:txBody>
          <a:bodyPr wrap="square" anchor="t">
            <a:spAutoFit/>
          </a:bodyPr>
          <a:lstStyle/>
          <a:p>
            <a:pPr algn="ctr"/>
            <a:r>
              <a:rPr sz="4000" b="1">
                <a:solidFill>
                  <a:srgbClr val="FFFFFF"/>
                </a:solidFill>
              </a:rPr>
              <a:t>海洋微藻智能识别与赤潮风险提示工具</a:t>
            </a:r>
            <a:endParaRPr sz="4000" b="1">
              <a:solidFill>
                <a:srgbClr val="FFFFFF"/>
              </a:solidFill>
            </a:endParaRPr>
          </a:p>
        </p:txBody>
      </p:sp>
      <p:sp>
        <p:nvSpPr>
          <p:cNvPr id="4" name="TextBox 3"/>
          <p:cNvSpPr txBox="1"/>
          <p:nvPr/>
        </p:nvSpPr>
        <p:spPr>
          <a:xfrm>
            <a:off x="914400" y="3200400"/>
            <a:ext cx="10332720" cy="548640"/>
          </a:xfrm>
          <a:prstGeom prst="rect">
            <a:avLst/>
          </a:prstGeom>
          <a:noFill/>
        </p:spPr>
        <p:txBody>
          <a:bodyPr wrap="square" anchor="t">
            <a:spAutoFit/>
          </a:bodyPr>
          <a:lstStyle/>
          <a:p>
            <a:pPr algn="ctr"/>
            <a:r>
              <a:rPr sz="2000" b="0">
                <a:solidFill>
                  <a:srgbClr val="CFE3F5"/>
                </a:solidFill>
              </a:rPr>
              <a:t>纯图像双证据:宏观 规则流CV×宏观CNN保守融合 预警 × 显微 MindSpore 识别确认</a:t>
            </a:r>
            <a:endParaRPr sz="2000" b="0">
              <a:solidFill>
                <a:srgbClr val="CFE3F5"/>
              </a:solidFill>
            </a:endParaRPr>
          </a:p>
        </p:txBody>
      </p:sp>
      <p:sp>
        <p:nvSpPr>
          <p:cNvPr id="5" name="TextBox 4"/>
          <p:cNvSpPr txBox="1"/>
          <p:nvPr/>
        </p:nvSpPr>
        <p:spPr>
          <a:xfrm>
            <a:off x="914400" y="4206240"/>
            <a:ext cx="10332720" cy="457200"/>
          </a:xfrm>
          <a:prstGeom prst="rect">
            <a:avLst/>
          </a:prstGeom>
          <a:noFill/>
        </p:spPr>
        <p:txBody>
          <a:bodyPr wrap="square" anchor="t">
            <a:spAutoFit/>
          </a:bodyPr>
          <a:lstStyle/>
          <a:p>
            <a:pPr algn="ctr"/>
            <a:r>
              <a:rPr sz="1600" b="0">
                <a:solidFill>
                  <a:srgbClr val="9FC5E8"/>
                </a:solidFill>
              </a:rPr>
              <a:t>2026 年海峡大学生人工智能创意大赛</a:t>
            </a:r>
            <a:endParaRPr sz="1600" b="0">
              <a:solidFill>
                <a:srgbClr val="9FC5E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一、背景与意义</a:t>
            </a:r>
            <a:endParaRPr sz="3000" b="1">
              <a:solidFill>
                <a:srgbClr val="FFFFFF"/>
              </a:solidFill>
            </a:endParaRPr>
          </a:p>
        </p:txBody>
      </p:sp>
      <p:sp>
        <p:nvSpPr>
          <p:cNvPr id="4" name="TextBox 3"/>
          <p:cNvSpPr txBox="1"/>
          <p:nvPr/>
        </p:nvSpPr>
        <p:spPr>
          <a:xfrm>
            <a:off x="640080" y="1645920"/>
            <a:ext cx="10881360" cy="868680"/>
          </a:xfrm>
          <a:prstGeom prst="rect">
            <a:avLst/>
          </a:prstGeom>
          <a:noFill/>
        </p:spPr>
        <p:txBody>
          <a:bodyPr wrap="square" anchor="t">
            <a:spAutoFit/>
          </a:bodyPr>
          <a:lstStyle/>
          <a:p>
            <a:pPr algn="l"/>
            <a:r>
              <a:rPr sz="1900" b="0">
                <a:solidFill>
                  <a:srgbClr val="595959"/>
                </a:solidFill>
              </a:rPr>
              <a:t>•  福建沿海是赤潮多发区,赤潮藻爆发威胁海水养殖、贝类安全与近岸生态;</a:t>
            </a:r>
            <a:endParaRPr sz="1900" b="0">
              <a:solidFill>
                <a:srgbClr val="595959"/>
              </a:solidFill>
            </a:endParaRPr>
          </a:p>
        </p:txBody>
      </p:sp>
      <p:sp>
        <p:nvSpPr>
          <p:cNvPr id="5" name="TextBox 4"/>
          <p:cNvSpPr txBox="1"/>
          <p:nvPr/>
        </p:nvSpPr>
        <p:spPr>
          <a:xfrm>
            <a:off x="640080" y="2331720"/>
            <a:ext cx="10881360" cy="868680"/>
          </a:xfrm>
          <a:prstGeom prst="rect">
            <a:avLst/>
          </a:prstGeom>
          <a:noFill/>
        </p:spPr>
        <p:txBody>
          <a:bodyPr wrap="square" anchor="t">
            <a:spAutoFit/>
          </a:bodyPr>
          <a:lstStyle/>
          <a:p>
            <a:pPr algn="l"/>
            <a:r>
              <a:rPr sz="1900" b="0">
                <a:solidFill>
                  <a:srgbClr val="595959"/>
                </a:solidFill>
              </a:rPr>
              <a:t>•  现场人员(养殖户/巡查/公众)最先拿到的是海面现状照片,而非显微照片;</a:t>
            </a:r>
            <a:endParaRPr sz="1900" b="0">
              <a:solidFill>
                <a:srgbClr val="595959"/>
              </a:solidFill>
            </a:endParaRPr>
          </a:p>
        </p:txBody>
      </p:sp>
      <p:sp>
        <p:nvSpPr>
          <p:cNvPr id="6" name="TextBox 5"/>
          <p:cNvSpPr txBox="1"/>
          <p:nvPr/>
        </p:nvSpPr>
        <p:spPr>
          <a:xfrm>
            <a:off x="640080" y="3017520"/>
            <a:ext cx="10881360" cy="868680"/>
          </a:xfrm>
          <a:prstGeom prst="rect">
            <a:avLst/>
          </a:prstGeom>
          <a:noFill/>
        </p:spPr>
        <p:txBody>
          <a:bodyPr wrap="square" anchor="t">
            <a:spAutoFit/>
          </a:bodyPr>
          <a:lstStyle/>
          <a:p>
            <a:pPr algn="l"/>
            <a:r>
              <a:rPr sz="1900" b="0">
                <a:solidFill>
                  <a:srgbClr val="595959"/>
                </a:solidFill>
              </a:rPr>
              <a:t>•  但仅凭一张海面照片难以可靠定种,传统显微镜镜检又依赖专业人员、耗时长;</a:t>
            </a:r>
            <a:endParaRPr sz="1900" b="0">
              <a:solidFill>
                <a:srgbClr val="595959"/>
              </a:solidFill>
            </a:endParaRPr>
          </a:p>
        </p:txBody>
      </p:sp>
      <p:sp>
        <p:nvSpPr>
          <p:cNvPr id="7" name="TextBox 6"/>
          <p:cNvSpPr txBox="1"/>
          <p:nvPr/>
        </p:nvSpPr>
        <p:spPr>
          <a:xfrm>
            <a:off x="640080" y="3703320"/>
            <a:ext cx="10881360" cy="868680"/>
          </a:xfrm>
          <a:prstGeom prst="rect">
            <a:avLst/>
          </a:prstGeom>
          <a:noFill/>
        </p:spPr>
        <p:txBody>
          <a:bodyPr wrap="square" anchor="t">
            <a:spAutoFit/>
          </a:bodyPr>
          <a:lstStyle/>
          <a:p>
            <a:pPr algn="l"/>
            <a:r>
              <a:rPr sz="1900" b="0">
                <a:solidFill>
                  <a:srgbClr val="595959"/>
                </a:solidFill>
              </a:rPr>
              <a:t>赤潮危害:养殖贝类鱼类大面积死亡(经济损失重)、水体缺氧破坏生态、藻毒素经贝类富集危及食品安全与健康;</a:t>
            </a:r>
            <a:endParaRPr sz="1900" b="0">
              <a:solidFill>
                <a:srgbClr val="595959"/>
              </a:solidFill>
            </a:endParaRPr>
          </a:p>
        </p:txBody>
      </p:sp>
      <p:sp>
        <p:nvSpPr>
          <p:cNvPr id="8" name="TextBox 8"/>
          <p:cNvSpPr txBox="1"/>
          <p:nvPr/>
        </p:nvSpPr>
        <p:spPr>
          <a:xfrm>
            <a:off x="635000" y="4572000"/>
            <a:ext cx="10883900" cy="863600"/>
          </a:xfrm>
          <a:prstGeom prst="rect">
            <a:avLst/>
          </a:prstGeom>
          <a:noFill/>
        </p:spPr>
        <p:txBody>
          <a:bodyPr wrap="square" rtlCol="0" anchor="t">
            <a:spAutoFit/>
          </a:bodyPr>
          <a:p>
            <a:r>
              <a:rPr lang="zh-CN" altLang="en-US"/>
              <a:t>本工具思路:纯图像判定——拍一张海面照片,无需问卷:海面/非海面预检→规则流水色CV为主×宏观CNN为辅保守融合→四级预警</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二、数据集:真实、可溯源的赤潮藻影像</a:t>
            </a:r>
            <a:endParaRPr sz="3000" b="1">
              <a:solidFill>
                <a:srgbClr val="FFFFFF"/>
              </a:solidFill>
            </a:endParaRPr>
          </a:p>
        </p:txBody>
      </p:sp>
      <p:sp>
        <p:nvSpPr>
          <p:cNvPr id="4" name="TextBox 3"/>
          <p:cNvSpPr txBox="1"/>
          <p:nvPr/>
        </p:nvSpPr>
        <p:spPr>
          <a:xfrm>
            <a:off x="640080" y="1645920"/>
            <a:ext cx="10881360" cy="731520"/>
          </a:xfrm>
          <a:prstGeom prst="rect">
            <a:avLst/>
          </a:prstGeom>
          <a:noFill/>
        </p:spPr>
        <p:txBody>
          <a:bodyPr wrap="square" anchor="t">
            <a:spAutoFit/>
          </a:bodyPr>
          <a:lstStyle/>
          <a:p>
            <a:pPr algn="l"/>
            <a:r>
              <a:rPr sz="1700" b="0">
                <a:solidFill>
                  <a:srgbClr val="595959"/>
                </a:solidFill>
              </a:rPr>
              <a:t>•  图像来源:GBIF(全球生物多样性信息网络)公开采集影像,辅以 CNKI 学术显微图;</a:t>
            </a:r>
            <a:endParaRPr sz="1700" b="0">
              <a:solidFill>
                <a:srgbClr val="595959"/>
              </a:solidFill>
            </a:endParaRPr>
          </a:p>
        </p:txBody>
      </p:sp>
      <p:sp>
        <p:nvSpPr>
          <p:cNvPr id="5" name="TextBox 4"/>
          <p:cNvSpPr txBox="1"/>
          <p:nvPr/>
        </p:nvSpPr>
        <p:spPr>
          <a:xfrm>
            <a:off x="640080" y="2194560"/>
            <a:ext cx="10881360" cy="731520"/>
          </a:xfrm>
          <a:prstGeom prst="rect">
            <a:avLst/>
          </a:prstGeom>
          <a:noFill/>
        </p:spPr>
        <p:txBody>
          <a:bodyPr wrap="square" anchor="t">
            <a:spAutoFit/>
          </a:bodyPr>
          <a:lstStyle/>
          <a:p>
            <a:pPr algn="l"/>
            <a:r>
              <a:rPr sz="1700" b="0">
                <a:solidFill>
                  <a:srgbClr val="595959"/>
                </a:solidFill>
              </a:rPr>
              <a:t>•  每一张图均记录溯源信息:采集记录号、记录学名、影像 URL、许可协议、权利人;</a:t>
            </a:r>
            <a:endParaRPr sz="1700" b="0">
              <a:solidFill>
                <a:srgbClr val="595959"/>
              </a:solidFill>
            </a:endParaRPr>
          </a:p>
        </p:txBody>
      </p:sp>
      <p:sp>
        <p:nvSpPr>
          <p:cNvPr id="6" name="TextBox 5"/>
          <p:cNvSpPr txBox="1"/>
          <p:nvPr/>
        </p:nvSpPr>
        <p:spPr>
          <a:xfrm>
            <a:off x="640080" y="2743200"/>
            <a:ext cx="10881360" cy="731520"/>
          </a:xfrm>
          <a:prstGeom prst="rect">
            <a:avLst/>
          </a:prstGeom>
          <a:noFill/>
        </p:spPr>
        <p:txBody>
          <a:bodyPr wrap="square" anchor="t">
            <a:spAutoFit/>
          </a:bodyPr>
          <a:lstStyle/>
          <a:p>
            <a:pPr algn="l"/>
            <a:r>
              <a:rPr sz="1700" b="0">
                <a:solidFill>
                  <a:srgbClr val="595959"/>
                </a:solidFill>
              </a:rPr>
              <a:t>•  覆盖 7 个赤潮相关类群,共约 755 张真实影像(含显微与海面水华宏观照);</a:t>
            </a:r>
            <a:endParaRPr sz="1700" b="0">
              <a:solidFill>
                <a:srgbClr val="595959"/>
              </a:solidFill>
            </a:endParaRPr>
          </a:p>
        </p:txBody>
      </p:sp>
      <p:sp>
        <p:nvSpPr>
          <p:cNvPr id="7" name="TextBox 6"/>
          <p:cNvSpPr txBox="1"/>
          <p:nvPr/>
        </p:nvSpPr>
        <p:spPr>
          <a:xfrm>
            <a:off x="640080" y="3291840"/>
            <a:ext cx="10881360" cy="731520"/>
          </a:xfrm>
          <a:prstGeom prst="rect">
            <a:avLst/>
          </a:prstGeom>
          <a:noFill/>
        </p:spPr>
        <p:txBody>
          <a:bodyPr wrap="square" anchor="t">
            <a:spAutoFit/>
          </a:bodyPr>
          <a:lstStyle/>
          <a:p>
            <a:pPr algn="l"/>
            <a:r>
              <a:rPr sz="1700" b="0">
                <a:solidFill>
                  <a:srgbClr val="595959"/>
                </a:solidFill>
              </a:rPr>
              <a:t>•  分类在 GBIF 可靠支撑的分类层级进行,物种代表种写入知识库,保证标签真实可信。</a:t>
            </a:r>
            <a:endParaRPr sz="1700" b="0">
              <a:solidFill>
                <a:srgbClr val="595959"/>
              </a:solidFill>
            </a:endParaRPr>
          </a:p>
        </p:txBody>
      </p:sp>
      <p:pic>
        <p:nvPicPr>
          <p:cNvPr id="8" name="Picture 7" descr="chart_counts.png"/>
          <p:cNvPicPr>
            <a:picLocks noChangeAspect="1"/>
          </p:cNvPicPr>
          <p:nvPr/>
        </p:nvPicPr>
        <p:blipFill>
          <a:blip r:embed="rId1"/>
          <a:stretch>
            <a:fillRect/>
          </a:stretch>
        </p:blipFill>
        <p:spPr>
          <a:xfrm>
            <a:off x="3108960" y="3291840"/>
            <a:ext cx="6035040" cy="30845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三、分支二(显微):MindSpore 迁移学习</a:t>
            </a:r>
            <a:endParaRPr sz="3000" b="1">
              <a:solidFill>
                <a:srgbClr val="FFFFFF"/>
              </a:solidFill>
            </a:endParaRP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800" b="0">
                <a:solidFill>
                  <a:srgbClr val="595959"/>
                </a:solidFill>
              </a:rPr>
              <a:t>•  骨干网络:MobileNetV3-Small(ImageNet 预训练),轻量、适合端侧/教学部署;</a:t>
            </a:r>
            <a:endParaRPr sz="1800" b="0">
              <a:solidFill>
                <a:srgbClr val="595959"/>
              </a:solidFill>
            </a:endParaRP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800" b="0">
                <a:solidFill>
                  <a:srgbClr val="595959"/>
                </a:solidFill>
              </a:rPr>
              <a:t>•  迁移学习策略:冻结骨干特征层,仅训练分类头,小样本下快速收敛、抑制过拟合;</a:t>
            </a:r>
            <a:endParaRPr sz="1800" b="0">
              <a:solidFill>
                <a:srgbClr val="595959"/>
              </a:solidFill>
            </a:endParaRP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800" b="0">
                <a:solidFill>
                  <a:srgbClr val="595959"/>
                </a:solidFill>
              </a:rPr>
              <a:t>•  输入 224×224 RGB;数据增强:随机裁剪、水平翻转;</a:t>
            </a:r>
            <a:endParaRPr sz="1800" b="0">
              <a:solidFill>
                <a:srgbClr val="595959"/>
              </a:solidFill>
            </a:endParaRP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800" b="0">
                <a:solidFill>
                  <a:srgbClr val="595959"/>
                </a:solidFill>
              </a:rPr>
              <a:t>•  训练框架:MindSpore(昇思),PYNATIVE 模式 CPU 训练,30 epochs,Adam 优化;</a:t>
            </a:r>
            <a:endParaRPr sz="1800" b="0">
              <a:solidFill>
                <a:srgbClr val="595959"/>
              </a:solidFill>
            </a:endParaRP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800" b="0">
                <a:solidFill>
                  <a:srgbClr val="595959"/>
                </a:solidFill>
              </a:rPr>
              <a:t>•  按验证集准确率自动保存最佳权重 best.ckpt。</a:t>
            </a:r>
            <a:endParaRPr sz="1800" b="0">
              <a:solidFill>
                <a:srgbClr val="595959"/>
              </a:solidFill>
            </a:endParaRPr>
          </a:p>
        </p:txBody>
      </p:sp>
      <p:pic>
        <p:nvPicPr>
          <p:cNvPr id="9" name="Picture 8" descr="chart_acc_curve.png"/>
          <p:cNvPicPr>
            <a:picLocks noChangeAspect="1"/>
          </p:cNvPicPr>
          <p:nvPr/>
        </p:nvPicPr>
        <p:blipFill>
          <a:blip r:embed="rId1"/>
          <a:stretch>
            <a:fillRect/>
          </a:stretch>
        </p:blipFill>
        <p:spPr>
          <a:xfrm>
            <a:off x="3108960" y="3931920"/>
            <a:ext cx="6035040" cy="30845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四、分支一(宏观):纯图像双证据 规则流CV × 宏观CNN 保守融合</a:t>
            </a:r>
            <a:endParaRPr sz="3000" b="1">
              <a:solidFill>
                <a:srgbClr val="FFFFFF"/>
              </a:solidFill>
            </a:endParaRP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700" b="0">
                <a:solidFill>
                  <a:srgbClr val="595959"/>
                </a:solidFill>
              </a:rPr>
              <a:t>•  图像证据:经典CV对海面照做水华色块检测(粉/褐/绿/泡沫占比),无需训练、不受宏观标注数据稀缺限制;</a:t>
            </a:r>
            <a:endParaRPr sz="1700" b="0">
              <a:solidFill>
                <a:srgbClr val="595959"/>
              </a:solidFill>
            </a:endParaRP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700" b="0">
                <a:solidFill>
                  <a:srgbClr val="595959"/>
                </a:solidFill>
              </a:rPr>
              <a:t>海面/非海面预检:CNN二分类(3065海面+1631非海面图训练,val 96.0%),分层判定——强判非海面坚决拦、模棱两可让规则流救回</a:t>
            </a:r>
            <a:endParaRPr sz="1700" b="0">
              <a:solidFill>
                <a:srgbClr val="595959"/>
              </a:solidFill>
            </a:endParaRP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700" b="0">
                <a:solidFill>
                  <a:srgbClr val="595959"/>
                </a:solidFill>
              </a:rPr>
              <a:t>主判证据(规则流CV):水华色块检测(粉/褐/绿/泡沫占比)→对假设集{夜光藻型/有毒甲藻型/硅藻型/绿潮/无赤潮}声明可审计似然权重</a:t>
            </a:r>
            <a:endParaRPr sz="1700" b="0">
              <a:solidFill>
                <a:srgbClr val="595959"/>
              </a:solidFill>
            </a:endParaRP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700" b="0">
                <a:solidFill>
                  <a:srgbClr val="595959"/>
                </a:solidFill>
              </a:rPr>
              <a:t>辅助证据(宏观CNN):仅当 CNN Top-1 与规则流一致才增强置信;不一致则忽略CNN、以规则流为准(保守融合,不劣于规则流单独判定)</a:t>
            </a:r>
            <a:endParaRPr sz="1700" b="0">
              <a:solidFill>
                <a:srgbClr val="595959"/>
              </a:solidFill>
            </a:endParaRP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700" b="0">
                <a:solidFill>
                  <a:srgbClr val="595959"/>
                </a:solidFill>
              </a:rPr>
              <a:t>四级预警:预警指数=置信度×类群风险权重×100,分红/橙/黄/蓝四级,每级对应明确响应措施,阈值与权重可审计</a:t>
            </a:r>
            <a:endParaRPr sz="1700" b="0">
              <a:solidFill>
                <a:srgbClr val="595959"/>
              </a:solidFill>
            </a:endParaRPr>
          </a:p>
        </p:txBody>
      </p:sp>
      <p:sp>
        <p:nvSpPr>
          <p:cNvPr id="9" name="TextBox 8"/>
          <p:cNvSpPr txBox="1"/>
          <p:nvPr/>
        </p:nvSpPr>
        <p:spPr>
          <a:xfrm>
            <a:off x="640080" y="4480560"/>
            <a:ext cx="10881360" cy="749808"/>
          </a:xfrm>
          <a:prstGeom prst="rect">
            <a:avLst/>
          </a:prstGeom>
          <a:noFill/>
        </p:spPr>
        <p:txBody>
          <a:bodyPr wrap="square" anchor="t">
            <a:spAutoFit/>
          </a:bodyPr>
          <a:lstStyle/>
          <a:p>
            <a:pPr algn="l"/>
            <a:r>
              <a:rPr sz="1700" b="0">
                <a:solidFill>
                  <a:srgbClr val="595959"/>
                </a:solidFill>
              </a:rPr>
              <a:t>设计动机:渔民只拍一张照片即得结论(零问卷、零门槛),保守融合保证'宁缺毋滥',不会被单一CNN误报</a:t>
            </a:r>
            <a:endParaRPr sz="1700" b="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五、实验结果(显微分支):验证集准确率 95.4%</a:t>
            </a:r>
            <a:endParaRPr sz="3000" b="1">
              <a:solidFill>
                <a:srgbClr val="FFFFFF"/>
              </a:solidFill>
            </a:endParaRPr>
          </a:p>
        </p:txBody>
      </p:sp>
      <p:pic>
        <p:nvPicPr>
          <p:cNvPr id="4" name="Picture 3" descr="chart_perclass.png"/>
          <p:cNvPicPr>
            <a:picLocks noChangeAspect="1"/>
          </p:cNvPicPr>
          <p:nvPr/>
        </p:nvPicPr>
        <p:blipFill>
          <a:blip r:embed="rId1"/>
          <a:stretch>
            <a:fillRect/>
          </a:stretch>
        </p:blipFill>
        <p:spPr>
          <a:xfrm>
            <a:off x="548640" y="1463040"/>
            <a:ext cx="5486400" cy="2804160"/>
          </a:xfrm>
          <a:prstGeom prst="rect">
            <a:avLst/>
          </a:prstGeom>
        </p:spPr>
      </p:pic>
      <p:pic>
        <p:nvPicPr>
          <p:cNvPr id="5" name="Picture 4" descr="chart_acc_curve.png"/>
          <p:cNvPicPr>
            <a:picLocks noChangeAspect="1"/>
          </p:cNvPicPr>
          <p:nvPr/>
        </p:nvPicPr>
        <p:blipFill>
          <a:blip r:embed="rId2"/>
          <a:stretch>
            <a:fillRect/>
          </a:stretch>
        </p:blipFill>
        <p:spPr>
          <a:xfrm>
            <a:off x="6309360" y="1463040"/>
            <a:ext cx="5486400" cy="2804160"/>
          </a:xfrm>
          <a:prstGeom prst="rect">
            <a:avLst/>
          </a:prstGeom>
        </p:spPr>
      </p:pic>
      <p:sp>
        <p:nvSpPr>
          <p:cNvPr id="6" name="TextBox 5"/>
          <p:cNvSpPr txBox="1"/>
          <p:nvPr/>
        </p:nvSpPr>
        <p:spPr>
          <a:xfrm>
            <a:off x="548640" y="5120640"/>
            <a:ext cx="11155680" cy="1280160"/>
          </a:xfrm>
          <a:prstGeom prst="rect">
            <a:avLst/>
          </a:prstGeom>
          <a:noFill/>
        </p:spPr>
        <p:txBody>
          <a:bodyPr wrap="square" anchor="t">
            <a:spAutoFit/>
          </a:bodyPr>
          <a:lstStyle/>
          <a:p>
            <a:pPr algn="l"/>
            <a:r>
              <a:rPr sz="1800" b="1">
                <a:solidFill>
                  <a:srgbClr val="1F3B63"/>
                </a:solidFill>
              </a:rPr>
              <a:t>总体验证准确率 95.39%(145/152),全部类别均超过 80% 验收线;最佳单轮验证准确率 95.4%。</a:t>
            </a:r>
            <a:endParaRPr sz="1800" b="1">
              <a:solidFill>
                <a:srgbClr val="1F3B63"/>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六、逐类判别能力分析(混淆矩阵)</a:t>
            </a:r>
            <a:endParaRPr sz="3000" b="1">
              <a:solidFill>
                <a:srgbClr val="FFFFFF"/>
              </a:solidFill>
            </a:endParaRPr>
          </a:p>
        </p:txBody>
      </p:sp>
      <p:pic>
        <p:nvPicPr>
          <p:cNvPr id="4" name="Picture 3" descr="chart_confusion.png"/>
          <p:cNvPicPr>
            <a:picLocks noChangeAspect="1"/>
          </p:cNvPicPr>
          <p:nvPr/>
        </p:nvPicPr>
        <p:blipFill>
          <a:blip r:embed="rId1"/>
          <a:stretch>
            <a:fillRect/>
          </a:stretch>
        </p:blipFill>
        <p:spPr>
          <a:xfrm>
            <a:off x="3657600" y="1371600"/>
            <a:ext cx="5760720" cy="4937760"/>
          </a:xfrm>
          <a:prstGeom prst="rect">
            <a:avLst/>
          </a:prstGeom>
        </p:spPr>
      </p:pic>
      <p:sp>
        <p:nvSpPr>
          <p:cNvPr id="5" name="TextBox 4"/>
          <p:cNvSpPr txBox="1"/>
          <p:nvPr/>
        </p:nvSpPr>
        <p:spPr>
          <a:xfrm>
            <a:off x="457200" y="6309360"/>
            <a:ext cx="11247120" cy="457200"/>
          </a:xfrm>
          <a:prstGeom prst="rect">
            <a:avLst/>
          </a:prstGeom>
          <a:noFill/>
        </p:spPr>
        <p:txBody>
          <a:bodyPr wrap="square" anchor="t">
            <a:spAutoFit/>
          </a:bodyPr>
          <a:lstStyle/>
          <a:p>
            <a:pPr algn="l"/>
            <a:r>
              <a:rPr sz="1500" b="0">
                <a:solidFill>
                  <a:srgbClr val="595959"/>
                </a:solidFill>
              </a:rPr>
              <a:t>对角线占绝对主导,类间混淆极少;夜光藻与骨条藻的少量误判源于低清/遮挡样本。</a:t>
            </a:r>
            <a:endParaRPr sz="1500" b="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七、宏观分支案例:海面照片→融合预警</a:t>
            </a:r>
            <a:endParaRPr sz="3000" b="1">
              <a:solidFill>
                <a:srgbClr val="FFFFFF"/>
              </a:solidFill>
            </a:endParaRPr>
          </a:p>
        </p:txBody>
      </p:sp>
      <p:pic>
        <p:nvPicPr>
          <p:cNvPr id="4" name="Picture 3" descr="noctiluca_0000.jpg"/>
          <p:cNvPicPr>
            <a:picLocks noChangeAspect="1"/>
          </p:cNvPicPr>
          <p:nvPr/>
        </p:nvPicPr>
        <p:blipFill>
          <a:blip r:embed="rId1"/>
          <a:stretch>
            <a:fillRect/>
          </a:stretch>
        </p:blipFill>
        <p:spPr>
          <a:xfrm>
            <a:off x="548640" y="1463040"/>
            <a:ext cx="5120640" cy="3840480"/>
          </a:xfrm>
          <a:prstGeom prst="rect">
            <a:avLst/>
          </a:prstGeom>
        </p:spPr>
      </p:pic>
      <p:sp>
        <p:nvSpPr>
          <p:cNvPr id="5" name="TextBox 4"/>
          <p:cNvSpPr txBox="1"/>
          <p:nvPr/>
        </p:nvSpPr>
        <p:spPr>
          <a:xfrm>
            <a:off x="6035040" y="1645920"/>
            <a:ext cx="5669280" cy="749808"/>
          </a:xfrm>
          <a:prstGeom prst="rect">
            <a:avLst/>
          </a:prstGeom>
          <a:noFill/>
        </p:spPr>
        <p:txBody>
          <a:bodyPr wrap="square" anchor="t">
            <a:spAutoFit/>
          </a:bodyPr>
          <a:lstStyle/>
          <a:p>
            <a:pPr algn="l"/>
            <a:r>
              <a:rPr sz="1600" b="0">
                <a:solidFill>
                  <a:srgbClr val="595959"/>
                </a:solidFill>
              </a:rPr>
              <a:t>•  输入:一张岸拍海面照片(水华呈粉红色带);</a:t>
            </a:r>
            <a:endParaRPr sz="1600" b="0">
              <a:solidFill>
                <a:srgbClr val="595959"/>
              </a:solidFill>
            </a:endParaRPr>
          </a:p>
        </p:txBody>
      </p:sp>
      <p:sp>
        <p:nvSpPr>
          <p:cNvPr id="6" name="TextBox 5"/>
          <p:cNvSpPr txBox="1"/>
          <p:nvPr/>
        </p:nvSpPr>
        <p:spPr>
          <a:xfrm>
            <a:off x="6035040" y="2212848"/>
            <a:ext cx="5669280" cy="749808"/>
          </a:xfrm>
          <a:prstGeom prst="rect">
            <a:avLst/>
          </a:prstGeom>
          <a:noFill/>
        </p:spPr>
        <p:txBody>
          <a:bodyPr wrap="square" anchor="t">
            <a:spAutoFit/>
          </a:bodyPr>
          <a:lstStyle/>
          <a:p>
            <a:pPr algn="l"/>
            <a:r>
              <a:rPr sz="1600" b="0">
                <a:solidFill>
                  <a:srgbClr val="595959"/>
                </a:solidFill>
              </a:rPr>
              <a:t>•  水色CV:检出粉色块占比约 7% → 判定『粉红/砖红』水华色;</a:t>
            </a:r>
            <a:endParaRPr sz="1600" b="0">
              <a:solidFill>
                <a:srgbClr val="595959"/>
              </a:solidFill>
            </a:endParaRPr>
          </a:p>
        </p:txBody>
      </p:sp>
      <p:sp>
        <p:nvSpPr>
          <p:cNvPr id="7" name="TextBox 6"/>
          <p:cNvSpPr txBox="1"/>
          <p:nvPr/>
        </p:nvSpPr>
        <p:spPr>
          <a:xfrm>
            <a:off x="6035040" y="2779776"/>
            <a:ext cx="5669280" cy="749808"/>
          </a:xfrm>
          <a:prstGeom prst="rect">
            <a:avLst/>
          </a:prstGeom>
          <a:noFill/>
        </p:spPr>
        <p:txBody>
          <a:bodyPr wrap="square" anchor="t">
            <a:spAutoFit/>
          </a:bodyPr>
          <a:lstStyle/>
          <a:p>
            <a:pPr algn="l"/>
            <a:r>
              <a:rPr sz="1600" b="0">
                <a:solidFill>
                  <a:srgbClr val="595959"/>
                </a:solidFill>
              </a:rPr>
              <a:t>•  融合(仅图像证据):夜光藻型 75.7% &gt; 有毒甲藻型 18.9% &gt; 硅藻型 4.7%;</a:t>
            </a:r>
            <a:endParaRPr sz="1600" b="0">
              <a:solidFill>
                <a:srgbClr val="595959"/>
              </a:solidFill>
            </a:endParaRPr>
          </a:p>
        </p:txBody>
      </p:sp>
      <p:sp>
        <p:nvSpPr>
          <p:cNvPr id="8" name="TextBox 7"/>
          <p:cNvSpPr txBox="1"/>
          <p:nvPr/>
        </p:nvSpPr>
        <p:spPr>
          <a:xfrm>
            <a:off x="6035040" y="3346704"/>
            <a:ext cx="5669280" cy="749808"/>
          </a:xfrm>
          <a:prstGeom prst="rect">
            <a:avLst/>
          </a:prstGeom>
          <a:noFill/>
        </p:spPr>
        <p:txBody>
          <a:bodyPr wrap="square" anchor="t">
            <a:spAutoFit/>
          </a:bodyPr>
          <a:lstStyle/>
          <a:p>
            <a:pPr algn="l"/>
            <a:r>
              <a:rPr sz="1600" b="0">
                <a:solidFill>
                  <a:srgbClr val="595959"/>
                </a:solidFill>
              </a:rPr>
              <a:t>•  输出:夜光藻型水华,风险『中—高』→ 预警指数61 = 橙色Ⅱ级预警;响应:48h内复核+暂停该点位贝类采捕送检+每日监测;</a:t>
            </a:r>
            <a:endParaRPr sz="1600" b="0">
              <a:solidFill>
                <a:srgbClr val="595959"/>
              </a:solidFill>
            </a:endParaRPr>
          </a:p>
        </p:txBody>
      </p:sp>
      <p:sp>
        <p:nvSpPr>
          <p:cNvPr id="9" name="TextBox 8"/>
          <p:cNvSpPr txBox="1"/>
          <p:nvPr/>
        </p:nvSpPr>
        <p:spPr>
          <a:xfrm>
            <a:off x="6035040" y="3913632"/>
            <a:ext cx="5669280" cy="749808"/>
          </a:xfrm>
          <a:prstGeom prst="rect">
            <a:avLst/>
          </a:prstGeom>
          <a:noFill/>
        </p:spPr>
        <p:txBody>
          <a:bodyPr wrap="square" anchor="t">
            <a:spAutoFit/>
          </a:bodyPr>
          <a:lstStyle/>
          <a:p>
            <a:pPr algn="l"/>
            <a:r>
              <a:rPr sz="1600" b="0">
                <a:solidFill>
                  <a:srgbClr val="595959"/>
                </a:solidFill>
              </a:rPr>
              <a:t>保守融合:宏观CNN与规则流结论一致时置信度进一步放大;不一致时以规则流为准并如实标注,不给出虚高置信</a:t>
            </a:r>
            <a:endParaRPr sz="1600" b="0">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矩形 1"/>
          <p:cNvSpPr/>
          <p:nvPr/>
        </p:nvSpPr>
        <p:spPr>
          <a:xfrm>
            <a:off x="608965" y="508000"/>
            <a:ext cx="330200" cy="381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3" name="Kicker"/>
          <p:cNvSpPr txBox="1"/>
          <p:nvPr/>
        </p:nvSpPr>
        <p:spPr>
          <a:xfrm>
            <a:off x="608965" y="635000"/>
            <a:ext cx="8127365" cy="203200"/>
          </a:xfrm>
          <a:prstGeom prst="rect">
            <a:avLst/>
          </a:prstGeom>
          <a:noFill/>
        </p:spPr>
        <p:txBody>
          <a:bodyPr wrap="square" lIns="0" tIns="0" rIns="0" bIns="0" rtlCol="0" anchor="t">
            <a:noAutofit/>
          </a:bodyPr>
          <a:p>
            <a:pPr algn="l">
              <a:lnSpc>
                <a:spcPct val="108000"/>
              </a:lnSpc>
            </a:pPr>
            <a:r>
              <a:rPr lang="zh-CN" altLang="en-US" sz="1260">
                <a:solidFill>
                  <a:srgbClr val="6B7280"/>
                </a:solidFill>
                <a:latin typeface="微软雅黑" panose="020B0503020204020204" charset="-122"/>
                <a:ea typeface="微软雅黑" panose="020B0503020204020204" charset="-122"/>
                <a:cs typeface="微软雅黑" panose="020B0503020204020204" charset="-122"/>
              </a:rPr>
              <a:t>数据扩充</a:t>
            </a:r>
            <a:r>
              <a:rPr lang="en-US" altLang="zh-CN" sz="1260">
                <a:solidFill>
                  <a:srgbClr val="6B7280"/>
                </a:solidFill>
                <a:latin typeface="微软雅黑" panose="020B0503020204020204" charset="-122"/>
                <a:ea typeface="微软雅黑" panose="020B0503020204020204" charset="-122"/>
                <a:cs typeface="微软雅黑" panose="020B0503020204020204" charset="-122"/>
              </a:rPr>
              <a:t> </a:t>
            </a:r>
            <a:r>
              <a:rPr lang="zh-CN" altLang="en-US" sz="1260">
                <a:solidFill>
                  <a:srgbClr val="6B7280"/>
                </a:solidFill>
                <a:latin typeface="微软雅黑" panose="020B0503020204020204" charset="-122"/>
                <a:ea typeface="微软雅黑" panose="020B0503020204020204" charset="-122"/>
                <a:cs typeface="微软雅黑" panose="020B0503020204020204" charset="-122"/>
              </a:rPr>
              <a:t>×</a:t>
            </a:r>
            <a:r>
              <a:rPr lang="en-US" altLang="zh-CN" sz="1260">
                <a:solidFill>
                  <a:srgbClr val="6B7280"/>
                </a:solidFill>
                <a:latin typeface="微软雅黑" panose="020B0503020204020204" charset="-122"/>
                <a:ea typeface="微软雅黑" panose="020B0503020204020204" charset="-122"/>
                <a:cs typeface="微软雅黑" panose="020B0503020204020204" charset="-122"/>
              </a:rPr>
              <a:t> </a:t>
            </a:r>
            <a:r>
              <a:rPr lang="zh-CN" altLang="en-US" sz="1260">
                <a:solidFill>
                  <a:srgbClr val="6B7280"/>
                </a:solidFill>
                <a:latin typeface="微软雅黑" panose="020B0503020204020204" charset="-122"/>
                <a:ea typeface="微软雅黑" panose="020B0503020204020204" charset="-122"/>
                <a:cs typeface="微软雅黑" panose="020B0503020204020204" charset="-122"/>
              </a:rPr>
              <a:t>弱监督</a:t>
            </a:r>
            <a:endParaRPr lang="zh-CN" altLang="en-US" sz="126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4" name="PageNumber"/>
          <p:cNvSpPr txBox="1"/>
          <p:nvPr/>
        </p:nvSpPr>
        <p:spPr>
          <a:xfrm>
            <a:off x="10057765" y="635000"/>
            <a:ext cx="1523365" cy="203200"/>
          </a:xfrm>
          <a:prstGeom prst="rect">
            <a:avLst/>
          </a:prstGeom>
          <a:noFill/>
        </p:spPr>
        <p:txBody>
          <a:bodyPr wrap="square" lIns="0" tIns="0" rIns="0" bIns="0" rtlCol="0" anchor="t">
            <a:noAutofit/>
          </a:bodyPr>
          <a:p>
            <a:pPr algn="r">
              <a:lnSpc>
                <a:spcPct val="108000"/>
              </a:lnSpc>
            </a:pPr>
            <a:r>
              <a:rPr lang="en-US" altLang="en-US" sz="1195">
                <a:solidFill>
                  <a:srgbClr val="6B7280"/>
                </a:solidFill>
                <a:latin typeface="微软雅黑" panose="020B0503020204020204" charset="-122"/>
                <a:ea typeface="微软雅黑" panose="020B0503020204020204" charset="-122"/>
              </a:rPr>
              <a:t>09 / 12</a:t>
            </a:r>
            <a:endParaRPr lang="en-US" altLang="en-US" sz="1195">
              <a:solidFill>
                <a:srgbClr val="6B7280"/>
              </a:solidFill>
              <a:latin typeface="微软雅黑" panose="020B0503020204020204" charset="-122"/>
              <a:ea typeface="微软雅黑" panose="020B0503020204020204" charset="-122"/>
            </a:endParaRPr>
          </a:p>
        </p:txBody>
      </p:sp>
      <p:sp>
        <p:nvSpPr>
          <p:cNvPr id="5" name="Title"/>
          <p:cNvSpPr txBox="1"/>
          <p:nvPr/>
        </p:nvSpPr>
        <p:spPr>
          <a:xfrm>
            <a:off x="608965" y="889000"/>
            <a:ext cx="10972165" cy="508000"/>
          </a:xfrm>
          <a:prstGeom prst="rect">
            <a:avLst/>
          </a:prstGeom>
          <a:noFill/>
        </p:spPr>
        <p:txBody>
          <a:bodyPr wrap="square" lIns="0" tIns="0" rIns="0" bIns="0" rtlCol="0" anchor="ctr">
            <a:noAutofit/>
          </a:bodyPr>
          <a:p>
            <a:pPr algn="l">
              <a:lnSpc>
                <a:spcPct val="108000"/>
              </a:lnSpc>
            </a:pP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宏观分支升级</a:t>
            </a:r>
            <a:r>
              <a:rPr lang="en-US" altLang="zh-CN" sz="2300" b="1">
                <a:solidFill>
                  <a:srgbClr val="0F3D75"/>
                </a:solidFill>
                <a:latin typeface="微软雅黑" panose="020B0503020204020204" charset="-122"/>
                <a:ea typeface="微软雅黑" panose="020B0503020204020204" charset="-122"/>
                <a:cs typeface="微软雅黑" panose="020B0503020204020204" charset="-122"/>
              </a:rPr>
              <a:t>:3065 </a:t>
            </a: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张伪标签自训练</a:t>
            </a:r>
            <a:r>
              <a:rPr lang="en-US" altLang="zh-CN" sz="2300" b="1">
                <a:solidFill>
                  <a:srgbClr val="0F3D75"/>
                </a:solidFill>
                <a:latin typeface="微软雅黑" panose="020B0503020204020204" charset="-122"/>
                <a:ea typeface="微软雅黑" panose="020B0503020204020204" charset="-122"/>
                <a:cs typeface="微软雅黑" panose="020B0503020204020204" charset="-122"/>
              </a:rPr>
              <a:t> CNN,</a:t>
            </a: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与规则流互补</a:t>
            </a:r>
            <a:endParaRPr lang="zh-CN" altLang="en-US" sz="2300" b="1">
              <a:solidFill>
                <a:srgbClr val="0F3D75"/>
              </a:solidFill>
              <a:latin typeface="微软雅黑" panose="020B0503020204020204" charset="-122"/>
              <a:ea typeface="微软雅黑" panose="020B0503020204020204" charset="-122"/>
              <a:cs typeface="微软雅黑" panose="020B0503020204020204" charset="-122"/>
            </a:endParaRPr>
          </a:p>
        </p:txBody>
      </p:sp>
      <p:cxnSp>
        <p:nvCxnSpPr>
          <p:cNvPr id="6" name="直接连接符 5"/>
          <p:cNvCxnSpPr/>
          <p:nvPr/>
        </p:nvCxnSpPr>
        <p:spPr>
          <a:xfrm>
            <a:off x="608965" y="1498600"/>
            <a:ext cx="10972165" cy="635"/>
          </a:xfrm>
          <a:prstGeom prst="line">
            <a:avLst/>
          </a:prstGeom>
          <a:ln w="9525">
            <a:solidFill>
              <a:srgbClr val="D9DEE7"/>
            </a:solidFill>
          </a:ln>
        </p:spPr>
        <p:style>
          <a:lnRef idx="2">
            <a:schemeClr val="accent1"/>
          </a:lnRef>
          <a:fillRef idx="0">
            <a:schemeClr val="accent1"/>
          </a:fillRef>
          <a:effectRef idx="1">
            <a:schemeClr val="accent1"/>
          </a:effectRef>
          <a:fontRef idx="minor">
            <a:schemeClr val="tx1"/>
          </a:fontRef>
        </p:style>
      </p:cxnSp>
      <p:cxnSp>
        <p:nvCxnSpPr>
          <p:cNvPr id="7" name="直接连接符 6"/>
          <p:cNvCxnSpPr/>
          <p:nvPr/>
        </p:nvCxnSpPr>
        <p:spPr>
          <a:xfrm>
            <a:off x="608965" y="2303145"/>
            <a:ext cx="2475865" cy="635"/>
          </a:xfrm>
          <a:prstGeom prst="line">
            <a:avLst/>
          </a:prstGeom>
          <a:ln w="19049">
            <a:solidFill>
              <a:srgbClr val="0F3D75"/>
            </a:solidFill>
          </a:ln>
        </p:spPr>
        <p:style>
          <a:lnRef idx="2">
            <a:schemeClr val="accent1"/>
          </a:lnRef>
          <a:fillRef idx="0">
            <a:schemeClr val="accent1"/>
          </a:fillRef>
          <a:effectRef idx="1">
            <a:schemeClr val="accent1"/>
          </a:effectRef>
          <a:fontRef idx="minor">
            <a:schemeClr val="tx1"/>
          </a:fontRef>
        </p:style>
      </p:cxnSp>
      <p:sp>
        <p:nvSpPr>
          <p:cNvPr id="8" name="文本框 7"/>
          <p:cNvSpPr txBox="1"/>
          <p:nvPr/>
        </p:nvSpPr>
        <p:spPr>
          <a:xfrm>
            <a:off x="6089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宏观海面图</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伪标签训练集</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 2760+</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监控</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 305)</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9" name="文本框 8"/>
          <p:cNvSpPr txBox="1"/>
          <p:nvPr/>
        </p:nvSpPr>
        <p:spPr>
          <a:xfrm>
            <a:off x="6089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0F3D75"/>
                </a:solidFill>
                <a:latin typeface="微软雅黑" panose="020B0503020204020204" charset="-122"/>
                <a:ea typeface="微软雅黑" panose="020B0503020204020204" charset="-122"/>
              </a:rPr>
              <a:t>3065</a:t>
            </a:r>
            <a:endParaRPr lang="en-US" altLang="en-US" sz="4200" b="1">
              <a:solidFill>
                <a:srgbClr val="0F3D75"/>
              </a:solidFill>
              <a:latin typeface="微软雅黑" panose="020B0503020204020204" charset="-122"/>
              <a:ea typeface="微软雅黑" panose="020B0503020204020204" charset="-122"/>
            </a:endParaRPr>
          </a:p>
        </p:txBody>
      </p:sp>
      <p:cxnSp>
        <p:nvCxnSpPr>
          <p:cNvPr id="10" name="直接连接符 9"/>
          <p:cNvCxnSpPr/>
          <p:nvPr/>
        </p:nvCxnSpPr>
        <p:spPr>
          <a:xfrm>
            <a:off x="3441065" y="2303145"/>
            <a:ext cx="2475865" cy="635"/>
          </a:xfrm>
          <a:prstGeom prst="line">
            <a:avLst/>
          </a:prstGeom>
          <a:ln w="19049">
            <a:solidFill>
              <a:srgbClr val="C8102E"/>
            </a:solidFill>
          </a:ln>
        </p:spPr>
        <p:style>
          <a:lnRef idx="2">
            <a:schemeClr val="accent1"/>
          </a:lnRef>
          <a:fillRef idx="0">
            <a:schemeClr val="accent1"/>
          </a:fillRef>
          <a:effectRef idx="1">
            <a:schemeClr val="accent1"/>
          </a:effectRef>
          <a:fontRef idx="minor">
            <a:schemeClr val="tx1"/>
          </a:fontRef>
        </p:style>
      </p:cxnSp>
      <p:sp>
        <p:nvSpPr>
          <p:cNvPr id="11" name="文本框 10"/>
          <p:cNvSpPr txBox="1"/>
          <p:nvPr/>
        </p:nvSpPr>
        <p:spPr>
          <a:xfrm>
            <a:off x="3441065" y="2442845"/>
            <a:ext cx="2475865" cy="228600"/>
          </a:xfrm>
          <a:prstGeom prst="rect">
            <a:avLst/>
          </a:prstGeom>
          <a:noFill/>
        </p:spPr>
        <p:txBody>
          <a:bodyPr wrap="square" lIns="0" tIns="0" rIns="0" bIns="0" rtlCol="0" anchor="t">
            <a:noAutofit/>
          </a:bodyPr>
          <a:p>
            <a:pPr algn="l">
              <a:lnSpc>
                <a:spcPct val="108000"/>
              </a:lnSpc>
            </a:pPr>
            <a:r>
              <a:rPr lang="en-US" altLang="en-US" sz="1380">
                <a:solidFill>
                  <a:srgbClr val="6B7280"/>
                </a:solidFill>
                <a:latin typeface="微软雅黑" panose="020B0503020204020204" charset="-122"/>
                <a:ea typeface="微软雅黑" panose="020B0503020204020204" charset="-122"/>
                <a:cs typeface="微软雅黑" panose="020B0503020204020204" charset="-122"/>
              </a:rPr>
              <a:t>25 </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张人工真实验证</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(5</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类</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→3</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类口径</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2" name="文本框 11"/>
          <p:cNvSpPr txBox="1"/>
          <p:nvPr/>
        </p:nvSpPr>
        <p:spPr>
          <a:xfrm>
            <a:off x="34410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C8102E"/>
                </a:solidFill>
                <a:latin typeface="微软雅黑" panose="020B0503020204020204" charset="-122"/>
                <a:ea typeface="微软雅黑" panose="020B0503020204020204" charset="-122"/>
              </a:rPr>
              <a:t>80.0%</a:t>
            </a:r>
            <a:endParaRPr lang="en-US" altLang="en-US" sz="4200" b="1">
              <a:solidFill>
                <a:srgbClr val="C8102E"/>
              </a:solidFill>
              <a:latin typeface="微软雅黑" panose="020B0503020204020204" charset="-122"/>
              <a:ea typeface="微软雅黑" panose="020B0503020204020204" charset="-122"/>
            </a:endParaRPr>
          </a:p>
        </p:txBody>
      </p:sp>
      <p:cxnSp>
        <p:nvCxnSpPr>
          <p:cNvPr id="13" name="直接连接符 12"/>
          <p:cNvCxnSpPr/>
          <p:nvPr/>
        </p:nvCxnSpPr>
        <p:spPr>
          <a:xfrm>
            <a:off x="6273165" y="2303145"/>
            <a:ext cx="2475865" cy="635"/>
          </a:xfrm>
          <a:prstGeom prst="line">
            <a:avLst/>
          </a:prstGeom>
          <a:ln w="19049">
            <a:solidFill>
              <a:srgbClr val="0F3D75"/>
            </a:solidFill>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62731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伪标签监控集准确率</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选优依据</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5" name="文本框 14"/>
          <p:cNvSpPr txBox="1"/>
          <p:nvPr/>
        </p:nvSpPr>
        <p:spPr>
          <a:xfrm>
            <a:off x="62731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0F3D75"/>
                </a:solidFill>
                <a:latin typeface="微软雅黑" panose="020B0503020204020204" charset="-122"/>
                <a:ea typeface="微软雅黑" panose="020B0503020204020204" charset="-122"/>
              </a:rPr>
              <a:t>75.4%</a:t>
            </a:r>
            <a:endParaRPr lang="en-US" altLang="en-US" sz="4200" b="1">
              <a:solidFill>
                <a:srgbClr val="0F3D75"/>
              </a:solidFill>
              <a:latin typeface="微软雅黑" panose="020B0503020204020204" charset="-122"/>
              <a:ea typeface="微软雅黑" panose="020B0503020204020204" charset="-122"/>
            </a:endParaRPr>
          </a:p>
        </p:txBody>
      </p:sp>
      <p:cxnSp>
        <p:nvCxnSpPr>
          <p:cNvPr id="16" name="直接连接符 15"/>
          <p:cNvCxnSpPr/>
          <p:nvPr/>
        </p:nvCxnSpPr>
        <p:spPr>
          <a:xfrm>
            <a:off x="9105265" y="2303145"/>
            <a:ext cx="2475865" cy="635"/>
          </a:xfrm>
          <a:prstGeom prst="line">
            <a:avLst/>
          </a:prstGeom>
          <a:ln w="19049">
            <a:solidFill>
              <a:srgbClr val="C8102E"/>
            </a:solidFill>
          </a:ln>
        </p:spPr>
        <p:style>
          <a:lnRef idx="2">
            <a:schemeClr val="accent1"/>
          </a:lnRef>
          <a:fillRef idx="0">
            <a:schemeClr val="accent1"/>
          </a:fillRef>
          <a:effectRef idx="1">
            <a:schemeClr val="accent1"/>
          </a:effectRef>
          <a:fontRef idx="minor">
            <a:schemeClr val="tx1"/>
          </a:fontRef>
        </p:style>
      </p:cxnSp>
      <p:sp>
        <p:nvSpPr>
          <p:cNvPr id="17" name="文本框 16"/>
          <p:cNvSpPr txBox="1"/>
          <p:nvPr/>
        </p:nvSpPr>
        <p:spPr>
          <a:xfrm>
            <a:off x="91052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同期规则流基线</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对照</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8" name="文本框 17"/>
          <p:cNvSpPr txBox="1"/>
          <p:nvPr/>
        </p:nvSpPr>
        <p:spPr>
          <a:xfrm>
            <a:off x="91052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C8102E"/>
                </a:solidFill>
                <a:latin typeface="微软雅黑" panose="020B0503020204020204" charset="-122"/>
                <a:ea typeface="微软雅黑" panose="020B0503020204020204" charset="-122"/>
              </a:rPr>
              <a:t>92.0%</a:t>
            </a:r>
            <a:endParaRPr lang="en-US" altLang="en-US" sz="4200" b="1">
              <a:solidFill>
                <a:srgbClr val="C8102E"/>
              </a:solidFill>
              <a:latin typeface="微软雅黑" panose="020B0503020204020204" charset="-122"/>
              <a:ea typeface="微软雅黑" panose="020B0503020204020204" charset="-122"/>
            </a:endParaRPr>
          </a:p>
        </p:txBody>
      </p:sp>
      <p:sp>
        <p:nvSpPr>
          <p:cNvPr id="19" name="矩形 18"/>
          <p:cNvSpPr/>
          <p:nvPr/>
        </p:nvSpPr>
        <p:spPr>
          <a:xfrm>
            <a:off x="608965" y="43224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0" name="文本框 19"/>
          <p:cNvSpPr txBox="1"/>
          <p:nvPr/>
        </p:nvSpPr>
        <p:spPr>
          <a:xfrm>
            <a:off x="837565" y="4208145"/>
            <a:ext cx="10743565" cy="381000"/>
          </a:xfrm>
          <a:prstGeom prst="rect">
            <a:avLst/>
          </a:prstGeom>
          <a:noFill/>
        </p:spPr>
        <p:txBody>
          <a:bodyPr wrap="square" lIns="0" tIns="0" rIns="0" bIns="0" rtlCol="0" anchor="t">
            <a:noAutofit/>
          </a:bodyPr>
          <a:p>
            <a:pPr algn="l">
              <a:lnSpc>
                <a:spcPct val="108000"/>
              </a:lnSpc>
            </a:pPr>
            <a:r>
              <a:rPr lang="zh-CN" altLang="en-US" sz="1740">
                <a:solidFill>
                  <a:srgbClr val="1A2233"/>
                </a:solidFill>
                <a:latin typeface="微软雅黑" panose="020B0503020204020204" charset="-122"/>
                <a:ea typeface="微软雅黑" panose="020B0503020204020204" charset="-122"/>
                <a:cs typeface="微软雅黑" panose="020B0503020204020204" charset="-122"/>
              </a:rPr>
              <a:t>搜索引擎公开海面图</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可审计规则流</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水色</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CV)</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打</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5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类伪标签</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→md5</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去重</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质量过滤</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→MobileNetV3-Small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冻结骨干训练</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逐张记录来源</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URL</a:t>
            </a:r>
            <a:endParaRPr lang="en-US" altLang="zh-CN" sz="1740">
              <a:solidFill>
                <a:srgbClr val="1A2233"/>
              </a:solidFill>
              <a:latin typeface="微软雅黑" panose="020B0503020204020204" charset="-122"/>
              <a:ea typeface="微软雅黑" panose="020B0503020204020204" charset="-122"/>
              <a:cs typeface="微软雅黑" panose="020B0503020204020204" charset="-122"/>
            </a:endParaRPr>
          </a:p>
        </p:txBody>
      </p:sp>
      <p:sp>
        <p:nvSpPr>
          <p:cNvPr id="21" name="矩形 20"/>
          <p:cNvSpPr/>
          <p:nvPr/>
        </p:nvSpPr>
        <p:spPr>
          <a:xfrm>
            <a:off x="608965" y="48050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2" name="文本框 21"/>
          <p:cNvSpPr txBox="1"/>
          <p:nvPr/>
        </p:nvSpPr>
        <p:spPr>
          <a:xfrm>
            <a:off x="837565" y="4690745"/>
            <a:ext cx="10743565" cy="381000"/>
          </a:xfrm>
          <a:prstGeom prst="rect">
            <a:avLst/>
          </a:prstGeom>
          <a:noFill/>
        </p:spPr>
        <p:txBody>
          <a:bodyPr wrap="square" lIns="0" tIns="0" rIns="0" bIns="0" rtlCol="0" anchor="t">
            <a:noAutofit/>
          </a:bodyPr>
          <a:p>
            <a:pPr algn="l">
              <a:lnSpc>
                <a:spcPct val="108000"/>
              </a:lnSpc>
            </a:pPr>
            <a:r>
              <a:rPr lang="zh-CN" altLang="en-US" sz="1740">
                <a:solidFill>
                  <a:srgbClr val="1A2233"/>
                </a:solidFill>
                <a:latin typeface="微软雅黑" panose="020B0503020204020204" charset="-122"/>
                <a:ea typeface="微软雅黑" panose="020B0503020204020204" charset="-122"/>
                <a:cs typeface="微软雅黑" panose="020B0503020204020204" charset="-122"/>
              </a:rPr>
              <a:t>伪标签监控准确率仅作选优</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不声明为最终效果</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真实效果以人工精选</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25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张验证</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并与规则流并列报告</a:t>
            </a:r>
            <a:endParaRPr lang="zh-CN" altLang="en-US" sz="1740">
              <a:solidFill>
                <a:srgbClr val="1A2233"/>
              </a:solidFill>
              <a:latin typeface="微软雅黑" panose="020B0503020204020204" charset="-122"/>
              <a:ea typeface="微软雅黑" panose="020B0503020204020204" charset="-122"/>
              <a:cs typeface="微软雅黑" panose="020B0503020204020204" charset="-122"/>
            </a:endParaRPr>
          </a:p>
        </p:txBody>
      </p:sp>
      <p:sp>
        <p:nvSpPr>
          <p:cNvPr id="23" name="矩形 22"/>
          <p:cNvSpPr/>
          <p:nvPr/>
        </p:nvSpPr>
        <p:spPr>
          <a:xfrm>
            <a:off x="608965" y="52876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4" name="文本框 23"/>
          <p:cNvSpPr txBox="1"/>
          <p:nvPr/>
        </p:nvSpPr>
        <p:spPr>
          <a:xfrm>
            <a:off x="837565" y="5173345"/>
            <a:ext cx="10743565" cy="381000"/>
          </a:xfrm>
          <a:prstGeom prst="rect">
            <a:avLst/>
          </a:prstGeom>
          <a:noFill/>
        </p:spPr>
        <p:txBody>
          <a:bodyPr wrap="square" lIns="0" tIns="0" rIns="0" bIns="0" rtlCol="0" anchor="t">
            <a:noAutofit/>
          </a:bodyPr>
          <a:p>
            <a:pPr algn="l">
              <a:lnSpc>
                <a:spcPct val="108000"/>
              </a:lnSpc>
            </a:pPr>
            <a:r>
              <a:rPr lang="en-US" altLang="en-US" sz="1740">
                <a:solidFill>
                  <a:srgbClr val="1A2233"/>
                </a:solidFill>
                <a:latin typeface="微软雅黑" panose="020B0503020204020204" charset="-122"/>
                <a:ea typeface="微软雅黑" panose="020B0503020204020204" charset="-122"/>
                <a:cs typeface="微软雅黑" panose="020B0503020204020204" charset="-122"/>
              </a:rPr>
              <a:t>已接入保守融合(agree模式):CNN Top-1与规则流一致才增强置信,不一致则以规则流为准——真实照片综合准确率92.0%(25张人工验证),零翻车</a:t>
            </a:r>
            <a:endParaRPr lang="en-US" altLang="en-US" sz="1740">
              <a:solidFill>
                <a:srgbClr val="1A2233"/>
              </a:solidFill>
              <a:latin typeface="微软雅黑" panose="020B0503020204020204" charset="-122"/>
              <a:ea typeface="微软雅黑" panose="020B0503020204020204" charset="-122"/>
              <a:cs typeface="微软雅黑" panose="020B0503020204020204" charset="-122"/>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350"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350"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350"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350"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350"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350"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1000"/>
                            </p:stCondLst>
                            <p:childTnLst>
                              <p:par>
                                <p:cTn id="25" presetID="10" presetClass="entr" presetSubtype="0" fill="hold" nodeType="afterEffect">
                                  <p:stCondLst>
                                    <p:cond delay="0"/>
                                  </p:stCondLst>
                                  <p:childTnLst>
                                    <p:set>
                                      <p:cBhvr>
                                        <p:cTn id="26" dur="350"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350"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350"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childTnLst>
                          </p:cTn>
                        </p:par>
                        <p:par>
                          <p:cTn id="34" fill="hold">
                            <p:stCondLst>
                              <p:cond delay="1500"/>
                            </p:stCondLst>
                            <p:childTnLst>
                              <p:par>
                                <p:cTn id="35" presetID="10" presetClass="entr" presetSubtype="0" fill="hold" nodeType="afterEffect">
                                  <p:stCondLst>
                                    <p:cond delay="0"/>
                                  </p:stCondLst>
                                  <p:childTnLst>
                                    <p:set>
                                      <p:cBhvr>
                                        <p:cTn id="36" dur="350"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grpId="0" nodeType="withEffect">
                                  <p:stCondLst>
                                    <p:cond delay="0"/>
                                  </p:stCondLst>
                                  <p:childTnLst>
                                    <p:set>
                                      <p:cBhvr>
                                        <p:cTn id="39" dur="350"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grpId="0" nodeType="withEffect">
                                  <p:stCondLst>
                                    <p:cond delay="0"/>
                                  </p:stCondLst>
                                  <p:childTnLst>
                                    <p:set>
                                      <p:cBhvr>
                                        <p:cTn id="42" dur="350" fill="hold">
                                          <p:stCondLst>
                                            <p:cond delay="0"/>
                                          </p:stCondLst>
                                        </p:cTn>
                                        <p:tgtEl>
                                          <p:spTgt spid="18"/>
                                        </p:tgtEl>
                                        <p:attrNameLst>
                                          <p:attrName>style.visibility</p:attrName>
                                        </p:attrNameLst>
                                      </p:cBhvr>
                                      <p:to>
                                        <p:strVal val="visible"/>
                                      </p:to>
                                    </p:set>
                                    <p:animEffect transition="in" filter="fade">
                                      <p:cBhvr>
                                        <p:cTn id="43" dur="350"/>
                                        <p:tgtEl>
                                          <p:spTgt spid="18"/>
                                        </p:tgtEl>
                                      </p:cBhvr>
                                    </p:animEffect>
                                  </p:childTnLst>
                                </p:cTn>
                              </p:par>
                            </p:childTnLst>
                          </p:cTn>
                        </p:par>
                        <p:par>
                          <p:cTn id="44" fill="hold">
                            <p:stCondLst>
                              <p:cond delay="2000"/>
                            </p:stCondLst>
                            <p:childTnLst>
                              <p:par>
                                <p:cTn id="45" presetID="10" presetClass="entr" presetSubtype="0" fill="hold" grpId="0" nodeType="afterEffect">
                                  <p:stCondLst>
                                    <p:cond delay="0"/>
                                  </p:stCondLst>
                                  <p:childTnLst>
                                    <p:set>
                                      <p:cBhvr>
                                        <p:cTn id="46" dur="350" fill="hold">
                                          <p:stCondLst>
                                            <p:cond delay="0"/>
                                          </p:stCondLst>
                                        </p:cTn>
                                        <p:tgtEl>
                                          <p:spTgt spid="19"/>
                                        </p:tgtEl>
                                        <p:attrNameLst>
                                          <p:attrName>style.visibility</p:attrName>
                                        </p:attrNameLst>
                                      </p:cBhvr>
                                      <p:to>
                                        <p:strVal val="visible"/>
                                      </p:to>
                                    </p:set>
                                    <p:animEffect transition="in" filter="fade">
                                      <p:cBhvr>
                                        <p:cTn id="47" dur="350"/>
                                        <p:tgtEl>
                                          <p:spTgt spid="19"/>
                                        </p:tgtEl>
                                      </p:cBhvr>
                                    </p:animEffect>
                                  </p:childTnLst>
                                </p:cTn>
                              </p:par>
                              <p:par>
                                <p:cTn id="48" presetID="10" presetClass="entr" presetSubtype="0" fill="hold" grpId="0" nodeType="withEffect">
                                  <p:stCondLst>
                                    <p:cond delay="0"/>
                                  </p:stCondLst>
                                  <p:childTnLst>
                                    <p:set>
                                      <p:cBhvr>
                                        <p:cTn id="49" dur="350" fill="hold">
                                          <p:stCondLst>
                                            <p:cond delay="0"/>
                                          </p:stCondLst>
                                        </p:cTn>
                                        <p:tgtEl>
                                          <p:spTgt spid="20"/>
                                        </p:tgtEl>
                                        <p:attrNameLst>
                                          <p:attrName>style.visibility</p:attrName>
                                        </p:attrNameLst>
                                      </p:cBhvr>
                                      <p:to>
                                        <p:strVal val="visible"/>
                                      </p:to>
                                    </p:set>
                                    <p:animEffect transition="in" filter="fade">
                                      <p:cBhvr>
                                        <p:cTn id="50" dur="350"/>
                                        <p:tgtEl>
                                          <p:spTgt spid="2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350" fill="hold">
                                          <p:stCondLst>
                                            <p:cond delay="0"/>
                                          </p:stCondLst>
                                        </p:cTn>
                                        <p:tgtEl>
                                          <p:spTgt spid="21"/>
                                        </p:tgtEl>
                                        <p:attrNameLst>
                                          <p:attrName>style.visibility</p:attrName>
                                        </p:attrNameLst>
                                      </p:cBhvr>
                                      <p:to>
                                        <p:strVal val="visible"/>
                                      </p:to>
                                    </p:set>
                                    <p:animEffect transition="in" filter="fade">
                                      <p:cBhvr>
                                        <p:cTn id="54" dur="350"/>
                                        <p:tgtEl>
                                          <p:spTgt spid="21"/>
                                        </p:tgtEl>
                                      </p:cBhvr>
                                    </p:animEffect>
                                  </p:childTnLst>
                                </p:cTn>
                              </p:par>
                              <p:par>
                                <p:cTn id="55" presetID="10" presetClass="entr" presetSubtype="0" fill="hold" grpId="0" nodeType="withEffect">
                                  <p:stCondLst>
                                    <p:cond delay="0"/>
                                  </p:stCondLst>
                                  <p:childTnLst>
                                    <p:set>
                                      <p:cBhvr>
                                        <p:cTn id="56" dur="350" fill="hold">
                                          <p:stCondLst>
                                            <p:cond delay="0"/>
                                          </p:stCondLst>
                                        </p:cTn>
                                        <p:tgtEl>
                                          <p:spTgt spid="22"/>
                                        </p:tgtEl>
                                        <p:attrNameLst>
                                          <p:attrName>style.visibility</p:attrName>
                                        </p:attrNameLst>
                                      </p:cBhvr>
                                      <p:to>
                                        <p:strVal val="visible"/>
                                      </p:to>
                                    </p:set>
                                    <p:animEffect transition="in" filter="fade">
                                      <p:cBhvr>
                                        <p:cTn id="57" dur="350"/>
                                        <p:tgtEl>
                                          <p:spTgt spid="22"/>
                                        </p:tgtEl>
                                      </p:cBhvr>
                                    </p:animEffect>
                                  </p:childTnLst>
                                </p:cTn>
                              </p:par>
                            </p:childTnLst>
                          </p:cTn>
                        </p:par>
                        <p:par>
                          <p:cTn id="58" fill="hold">
                            <p:stCondLst>
                              <p:cond delay="3000"/>
                            </p:stCondLst>
                            <p:childTnLst>
                              <p:par>
                                <p:cTn id="59" presetID="10" presetClass="entr" presetSubtype="0" fill="hold" grpId="0" nodeType="afterEffect">
                                  <p:stCondLst>
                                    <p:cond delay="0"/>
                                  </p:stCondLst>
                                  <p:childTnLst>
                                    <p:set>
                                      <p:cBhvr>
                                        <p:cTn id="60" dur="350" fill="hold">
                                          <p:stCondLst>
                                            <p:cond delay="0"/>
                                          </p:stCondLst>
                                        </p:cTn>
                                        <p:tgtEl>
                                          <p:spTgt spid="23"/>
                                        </p:tgtEl>
                                        <p:attrNameLst>
                                          <p:attrName>style.visibility</p:attrName>
                                        </p:attrNameLst>
                                      </p:cBhvr>
                                      <p:to>
                                        <p:strVal val="visible"/>
                                      </p:to>
                                    </p:set>
                                    <p:animEffect transition="in" filter="fade">
                                      <p:cBhvr>
                                        <p:cTn id="61" dur="350"/>
                                        <p:tgtEl>
                                          <p:spTgt spid="23"/>
                                        </p:tgtEl>
                                      </p:cBhvr>
                                    </p:animEffect>
                                  </p:childTnLst>
                                </p:cTn>
                              </p:par>
                              <p:par>
                                <p:cTn id="62" presetID="10" presetClass="entr" presetSubtype="0" fill="hold" grpId="0" nodeType="withEffect">
                                  <p:stCondLst>
                                    <p:cond delay="0"/>
                                  </p:stCondLst>
                                  <p:childTnLst>
                                    <p:set>
                                      <p:cBhvr>
                                        <p:cTn id="63" dur="350" fill="hold">
                                          <p:stCondLst>
                                            <p:cond delay="0"/>
                                          </p:stCondLst>
                                        </p:cTn>
                                        <p:tgtEl>
                                          <p:spTgt spid="24"/>
                                        </p:tgtEl>
                                        <p:attrNameLst>
                                          <p:attrName>style.visibility</p:attrName>
                                        </p:attrNameLst>
                                      </p:cBhvr>
                                      <p:to>
                                        <p:strVal val="visible"/>
                                      </p:to>
                                    </p:set>
                                    <p:animEffect transition="in" filter="fade">
                                      <p:cBhvr>
                                        <p:cTn id="64"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7" grpId="0"/>
      <p:bldP spid="18" grpId="0"/>
      <p:bldP spid="19" grpId="0" animBg="1"/>
      <p:bldP spid="20" grpId="0"/>
      <p:bldP spid="21" grpId="0" animBg="1"/>
      <p:bldP spid="22" grpId="0"/>
      <p:bldP spid="23" grpId="0" animBg="1"/>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八、系统实现:双分支一体化前端</a:t>
            </a:r>
            <a:endParaRPr sz="3000" b="1">
              <a:solidFill>
                <a:srgbClr val="FFFFFF"/>
              </a:solidFill>
            </a:endParaRPr>
          </a:p>
        </p:txBody>
      </p:sp>
      <p:sp>
        <p:nvSpPr>
          <p:cNvPr id="4" name="TextBox 3"/>
          <p:cNvSpPr txBox="1"/>
          <p:nvPr/>
        </p:nvSpPr>
        <p:spPr>
          <a:xfrm>
            <a:off x="640080" y="1645920"/>
            <a:ext cx="10881360" cy="777240"/>
          </a:xfrm>
          <a:prstGeom prst="rect">
            <a:avLst/>
          </a:prstGeom>
          <a:noFill/>
        </p:spPr>
        <p:txBody>
          <a:bodyPr wrap="square" anchor="t">
            <a:spAutoFit/>
          </a:bodyPr>
          <a:lstStyle/>
          <a:p>
            <a:pPr algn="l"/>
            <a:r>
              <a:rPr sz="1800" b="0">
                <a:solidFill>
                  <a:srgbClr val="595959"/>
                </a:solidFill>
              </a:rPr>
              <a:t>Streamlit 前端:『拍海面查风险(渔民用)』(主,上传一张海面照即可,无需问卷)/『显微照片(化验室人员用)』(次,实验室确认)</a:t>
            </a:r>
            <a:endParaRPr sz="1800" b="0">
              <a:solidFill>
                <a:srgbClr val="595959"/>
              </a:solidFill>
            </a:endParaRPr>
          </a:p>
        </p:txBody>
      </p:sp>
      <p:sp>
        <p:nvSpPr>
          <p:cNvPr id="5" name="TextBox 4"/>
          <p:cNvSpPr txBox="1"/>
          <p:nvPr/>
        </p:nvSpPr>
        <p:spPr>
          <a:xfrm>
            <a:off x="640080" y="2240280"/>
            <a:ext cx="10881360" cy="777240"/>
          </a:xfrm>
          <a:prstGeom prst="rect">
            <a:avLst/>
          </a:prstGeom>
          <a:noFill/>
        </p:spPr>
        <p:txBody>
          <a:bodyPr wrap="square" anchor="t">
            <a:spAutoFit/>
          </a:bodyPr>
          <a:lstStyle/>
          <a:p>
            <a:pPr algn="l"/>
            <a:r>
              <a:rPr sz="1800" b="0">
                <a:solidFill>
                  <a:srgbClr val="595959"/>
                </a:solidFill>
              </a:rPr>
              <a:t>•  面向渔民重做交互:结论压成三句大白话(什么情况/该干什么/该找谁)+『念给我听』语音播报+『复制上报话术』一键生成上报文本+『附上我的位置』定位;</a:t>
            </a:r>
            <a:endParaRPr sz="1800" b="0">
              <a:solidFill>
                <a:srgbClr val="595959"/>
              </a:solidFill>
            </a:endParaRPr>
          </a:p>
        </p:txBody>
      </p:sp>
      <p:sp>
        <p:nvSpPr>
          <p:cNvPr id="6" name="TextBox 5"/>
          <p:cNvSpPr txBox="1"/>
          <p:nvPr/>
        </p:nvSpPr>
        <p:spPr>
          <a:xfrm>
            <a:off x="640080" y="2834640"/>
            <a:ext cx="10881360" cy="777240"/>
          </a:xfrm>
          <a:prstGeom prst="rect">
            <a:avLst/>
          </a:prstGeom>
          <a:noFill/>
        </p:spPr>
        <p:txBody>
          <a:bodyPr wrap="square" anchor="t">
            <a:spAutoFit/>
          </a:bodyPr>
          <a:lstStyle/>
          <a:p>
            <a:pPr algn="l"/>
            <a:r>
              <a:rPr sz="1800" b="0">
                <a:solidFill>
                  <a:srgbClr val="595959"/>
                </a:solidFill>
              </a:rPr>
              <a:t>•  后验概率与似然证据链折叠进『我给专家看的』区,附✅好照片/❌不合适照片示例与本地查询历史;显微识别自动联动《藻种知识库》;</a:t>
            </a:r>
            <a:endParaRPr sz="1800" b="0">
              <a:solidFill>
                <a:srgbClr val="595959"/>
              </a:solidFill>
            </a:endParaRPr>
          </a:p>
        </p:txBody>
      </p:sp>
      <p:sp>
        <p:nvSpPr>
          <p:cNvPr id="7" name="TextBox 6"/>
          <p:cNvSpPr txBox="1"/>
          <p:nvPr/>
        </p:nvSpPr>
        <p:spPr>
          <a:xfrm>
            <a:off x="640080" y="3429000"/>
            <a:ext cx="10881360" cy="777240"/>
          </a:xfrm>
          <a:prstGeom prst="rect">
            <a:avLst/>
          </a:prstGeom>
          <a:noFill/>
        </p:spPr>
        <p:txBody>
          <a:bodyPr wrap="square" anchor="t">
            <a:spAutoFit/>
          </a:bodyPr>
          <a:lstStyle/>
          <a:p>
            <a:pPr algn="l"/>
            <a:r>
              <a:rPr sz="1800" b="0">
                <a:solidFill>
                  <a:srgbClr val="595959"/>
                </a:solidFill>
              </a:rPr>
              <a:t>海面/非海面预检:无关照片(桌面/地面/文档/人像)先被拦截提示,杜绝'传一张桌子照片也出藻类结果';v4 迭代仅改判定与展示层,核心融合与四级预警可审计</a:t>
            </a:r>
            <a:endParaRPr sz="1800" b="0">
              <a:solidFill>
                <a:srgbClr val="595959"/>
              </a:solidFill>
            </a:endParaRPr>
          </a:p>
        </p:txBody>
      </p:sp>
      <p:sp>
        <p:nvSpPr>
          <p:cNvPr id="8" name="TextBox 6"/>
          <p:cNvSpPr txBox="1"/>
          <p:nvPr/>
        </p:nvSpPr>
        <p:spPr>
          <a:xfrm>
            <a:off x="640080" y="4023360"/>
            <a:ext cx="10881360" cy="777240"/>
          </a:xfrm>
          <a:prstGeom prst="rect">
            <a:avLst/>
          </a:prstGeom>
          <a:noFill/>
        </p:spPr>
        <p:txBody>
          <a:bodyPr wrap="square" anchor="t">
            <a:spAutoFit/>
          </a:bodyPr>
          <a:lstStyle/>
          <a:p>
            <a:pPr algn="l"/>
            <a:r>
              <a:rPr sz="1800" b="0">
                <a:solidFill>
                  <a:srgbClr val="595959"/>
                </a:solidFill>
              </a:rPr>
              <a:t>•  v3 迭代仅改展示与交互层,融合与四级预警输出与 v2 完全一致(已回归验证),结论可信、可复现。</a:t>
            </a:r>
            <a:endParaRPr sz="1800" b="0">
              <a:solidFill>
                <a:srgbClr val="595959"/>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九、创新点与特色</a:t>
            </a:r>
            <a:endParaRPr sz="3000" b="1">
              <a:solidFill>
                <a:srgbClr val="FFFFFF"/>
              </a:solidFill>
            </a:endParaRPr>
          </a:p>
        </p:txBody>
      </p:sp>
      <p:sp>
        <p:nvSpPr>
          <p:cNvPr id="4" name="TextBox 3"/>
          <p:cNvSpPr txBox="1"/>
          <p:nvPr/>
        </p:nvSpPr>
        <p:spPr>
          <a:xfrm>
            <a:off x="640080" y="1645920"/>
            <a:ext cx="10881360" cy="804672"/>
          </a:xfrm>
          <a:prstGeom prst="rect">
            <a:avLst/>
          </a:prstGeom>
          <a:noFill/>
        </p:spPr>
        <p:txBody>
          <a:bodyPr wrap="square" anchor="t">
            <a:spAutoFit/>
          </a:bodyPr>
          <a:lstStyle/>
          <a:p>
            <a:pPr algn="l"/>
            <a:r>
              <a:rPr sz="1800" b="0">
                <a:solidFill>
                  <a:srgbClr val="595959"/>
                </a:solidFill>
              </a:rPr>
              <a:t>纯图像可落地:直面真实用户只有海面照片的现状,拍一张即出结论,零问卷、零门槛,渔民会用</a:t>
            </a:r>
            <a:endParaRPr sz="1800" b="0">
              <a:solidFill>
                <a:srgbClr val="595959"/>
              </a:solidFill>
            </a:endParaRPr>
          </a:p>
        </p:txBody>
      </p:sp>
      <p:sp>
        <p:nvSpPr>
          <p:cNvPr id="5" name="TextBox 4"/>
          <p:cNvSpPr txBox="1"/>
          <p:nvPr/>
        </p:nvSpPr>
        <p:spPr>
          <a:xfrm>
            <a:off x="640080" y="2267712"/>
            <a:ext cx="10881360" cy="804672"/>
          </a:xfrm>
          <a:prstGeom prst="rect">
            <a:avLst/>
          </a:prstGeom>
          <a:noFill/>
        </p:spPr>
        <p:txBody>
          <a:bodyPr wrap="square" anchor="t">
            <a:spAutoFit/>
          </a:bodyPr>
          <a:lstStyle/>
          <a:p>
            <a:pPr algn="l"/>
            <a:r>
              <a:rPr sz="1800" b="0">
                <a:solidFill>
                  <a:srgbClr val="595959"/>
                </a:solidFill>
              </a:rPr>
              <a:t>保守融合可解释:规则流为主、CNN仅在一致时增强,证据链可审计、'宁缺毋滥'不被单模型误报</a:t>
            </a:r>
            <a:endParaRPr sz="1800" b="0">
              <a:solidFill>
                <a:srgbClr val="595959"/>
              </a:solidFill>
            </a:endParaRPr>
          </a:p>
        </p:txBody>
      </p:sp>
      <p:sp>
        <p:nvSpPr>
          <p:cNvPr id="6" name="TextBox 5"/>
          <p:cNvSpPr txBox="1"/>
          <p:nvPr/>
        </p:nvSpPr>
        <p:spPr>
          <a:xfrm>
            <a:off x="640080" y="2889504"/>
            <a:ext cx="10881360" cy="804672"/>
          </a:xfrm>
          <a:prstGeom prst="rect">
            <a:avLst/>
          </a:prstGeom>
          <a:noFill/>
        </p:spPr>
        <p:txBody>
          <a:bodyPr wrap="square" anchor="t">
            <a:spAutoFit/>
          </a:bodyPr>
          <a:lstStyle/>
          <a:p>
            <a:pPr algn="l"/>
            <a:r>
              <a:rPr sz="1800" b="0">
                <a:solidFill>
                  <a:srgbClr val="595959"/>
                </a:solidFill>
              </a:rPr>
              <a:t>•  真实可溯源:训练图像来自 GBIF 公开采集记录,逐张留存许可与权利人;</a:t>
            </a:r>
            <a:endParaRPr sz="1800" b="0">
              <a:solidFill>
                <a:srgbClr val="595959"/>
              </a:solidFill>
            </a:endParaRPr>
          </a:p>
        </p:txBody>
      </p:sp>
      <p:sp>
        <p:nvSpPr>
          <p:cNvPr id="7" name="TextBox 6"/>
          <p:cNvSpPr txBox="1"/>
          <p:nvPr/>
        </p:nvSpPr>
        <p:spPr>
          <a:xfrm>
            <a:off x="640080" y="3511296"/>
            <a:ext cx="10881360" cy="804672"/>
          </a:xfrm>
          <a:prstGeom prst="rect">
            <a:avLst/>
          </a:prstGeom>
          <a:noFill/>
        </p:spPr>
        <p:txBody>
          <a:bodyPr wrap="square" anchor="t">
            <a:spAutoFit/>
          </a:bodyPr>
          <a:lstStyle/>
          <a:p>
            <a:pPr algn="l"/>
            <a:r>
              <a:rPr sz="1800" b="0">
                <a:solidFill>
                  <a:srgbClr val="595959"/>
                </a:solidFill>
              </a:rPr>
              <a:t>•  MindSpore 生态 + 轻量迁移学习:显微分支 7 类小样本达 95.4% 验证准确率;</a:t>
            </a:r>
            <a:endParaRPr sz="1800" b="0">
              <a:solidFill>
                <a:srgbClr val="595959"/>
              </a:solidFill>
            </a:endParaRPr>
          </a:p>
        </p:txBody>
      </p:sp>
      <p:sp>
        <p:nvSpPr>
          <p:cNvPr id="8" name="TextBox 7"/>
          <p:cNvSpPr txBox="1"/>
          <p:nvPr/>
        </p:nvSpPr>
        <p:spPr>
          <a:xfrm>
            <a:off x="640080" y="4133088"/>
            <a:ext cx="10881360" cy="804672"/>
          </a:xfrm>
          <a:prstGeom prst="rect">
            <a:avLst/>
          </a:prstGeom>
          <a:noFill/>
        </p:spPr>
        <p:txBody>
          <a:bodyPr wrap="square" anchor="t">
            <a:spAutoFit/>
          </a:bodyPr>
          <a:lstStyle/>
          <a:p>
            <a:pPr algn="l"/>
            <a:r>
              <a:rPr sz="1800" b="0">
                <a:solidFill>
                  <a:srgbClr val="595959"/>
                </a:solidFill>
              </a:rPr>
              <a:t>•  知识库驱动:风险结论来自结构化《藻种知识库》,可解释、可维护、可扩展。</a:t>
            </a:r>
            <a:endParaRPr sz="1800" b="0">
              <a:solidFill>
                <a:srgbClr val="595959"/>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十、总结与展望</a:t>
            </a:r>
            <a:endParaRPr sz="3000" b="1">
              <a:solidFill>
                <a:srgbClr val="FFFFFF"/>
              </a:solidFill>
            </a:endParaRPr>
          </a:p>
        </p:txBody>
      </p:sp>
      <p:sp>
        <p:nvSpPr>
          <p:cNvPr id="4" name="TextBox 3"/>
          <p:cNvSpPr txBox="1"/>
          <p:nvPr/>
        </p:nvSpPr>
        <p:spPr>
          <a:xfrm>
            <a:off x="640080" y="1645920"/>
            <a:ext cx="10881360" cy="914400"/>
          </a:xfrm>
          <a:prstGeom prst="rect">
            <a:avLst/>
          </a:prstGeom>
          <a:noFill/>
        </p:spPr>
        <p:txBody>
          <a:bodyPr wrap="square" anchor="t">
            <a:spAutoFit/>
          </a:bodyPr>
          <a:lstStyle/>
          <a:p>
            <a:pPr algn="l"/>
            <a:r>
              <a:rPr sz="1900" b="0">
                <a:solidFill>
                  <a:srgbClr val="595959"/>
                </a:solidFill>
              </a:rPr>
              <a:t>已实现:真实溯源数据集(7类约755张)+ 宏观纯图像双证据融合与四级预警 + 海面/非海面预检CNN(3065海面+1631非海面,val 96.0%) + 显微 MindSpore 识别分支(95.4%) + v4 渔民友好纯图像前端</a:t>
            </a:r>
            <a:endParaRPr sz="1900" b="0">
              <a:solidFill>
                <a:srgbClr val="595959"/>
              </a:solidFill>
            </a:endParaRPr>
          </a:p>
        </p:txBody>
      </p:sp>
      <p:sp>
        <p:nvSpPr>
          <p:cNvPr id="5" name="TextBox 4"/>
          <p:cNvSpPr txBox="1"/>
          <p:nvPr/>
        </p:nvSpPr>
        <p:spPr>
          <a:xfrm>
            <a:off x="640080" y="2377440"/>
            <a:ext cx="10881360" cy="914400"/>
          </a:xfrm>
          <a:prstGeom prst="rect">
            <a:avLst/>
          </a:prstGeom>
          <a:noFill/>
        </p:spPr>
        <p:txBody>
          <a:bodyPr wrap="square" anchor="t">
            <a:spAutoFit/>
          </a:bodyPr>
          <a:lstStyle/>
          <a:p>
            <a:pPr algn="l"/>
            <a:r>
              <a:rPr sz="1900" b="0">
                <a:solidFill>
                  <a:srgbClr val="595959"/>
                </a:solidFill>
              </a:rPr>
              <a:t>宏观 CNN 已正式接入保守融合:25张真实图综合准确率92.0%(与规则流持平零翻车);后续以福建海域实测海面照做本地校准,并扩充更多有害藻类类别</a:t>
            </a:r>
            <a:endParaRPr sz="1900" b="0">
              <a:solidFill>
                <a:srgbClr val="595959"/>
              </a:solidFill>
            </a:endParaRPr>
          </a:p>
        </p:txBody>
      </p:sp>
      <p:sp>
        <p:nvSpPr>
          <p:cNvPr id="6" name="TextBox 5"/>
          <p:cNvSpPr txBox="1"/>
          <p:nvPr/>
        </p:nvSpPr>
        <p:spPr>
          <a:xfrm>
            <a:off x="640080" y="3840480"/>
            <a:ext cx="10881360" cy="914400"/>
          </a:xfrm>
          <a:prstGeom prst="rect">
            <a:avLst/>
          </a:prstGeom>
          <a:noFill/>
        </p:spPr>
        <p:txBody>
          <a:bodyPr wrap="square" anchor="t">
            <a:spAutoFit/>
          </a:bodyPr>
          <a:lstStyle/>
          <a:p>
            <a:pPr algn="l"/>
            <a:r>
              <a:rPr sz="1900" b="0">
                <a:solidFill>
                  <a:srgbClr val="595959"/>
                </a:solidFill>
              </a:rPr>
              <a:t>•  本工具可为近岸养殖区赤潮早期预警与贝类安全监测提供辅助决策支持。</a:t>
            </a:r>
            <a:endParaRPr sz="1900" b="0">
              <a:solidFill>
                <a:srgbClr val="595959"/>
              </a:solidFill>
            </a:endParaRPr>
          </a:p>
        </p:txBody>
      </p:sp>
      <p:sp>
        <p:nvSpPr>
          <p:cNvPr id="7" name="TextBox 4"/>
          <p:cNvSpPr txBox="1"/>
          <p:nvPr/>
        </p:nvSpPr>
        <p:spPr>
          <a:xfrm>
            <a:off x="640080" y="3108960"/>
            <a:ext cx="10881360" cy="914400"/>
          </a:xfrm>
          <a:prstGeom prst="rect">
            <a:avLst/>
          </a:prstGeom>
          <a:noFill/>
        </p:spPr>
        <p:txBody>
          <a:bodyPr wrap="square" anchor="t">
            <a:spAutoFit/>
          </a:bodyPr>
          <a:lstStyle/>
          <a:p>
            <a:pPr algn="l"/>
            <a:r>
              <a:rPr sz="1900" b="0">
                <a:solidFill>
                  <a:srgbClr val="595959"/>
                </a:solidFill>
              </a:rPr>
              <a:t>•  宏观 CNN(弱监督自训练)已完成首版:3065 张伪标签海面图训练,25 张真实图验证 80%,作为第三路证据备用;后续以福建海域实测海面照(正常≥60/绿潮≥30)做本地校准与正式接入;</a:t>
            </a:r>
            <a:endParaRPr sz="1900" b="0">
              <a:solidFill>
                <a:srgbClr val="595959"/>
              </a:solidFill>
            </a:endParaRPr>
          </a:p>
        </p:txBody>
      </p:sp>
    </p:spTree>
  </p:cSld>
  <p:clrMapOvr>
    <a:masterClrMapping/>
  </p:clrMapOvr>
</p:sld>
</file>

<file path=ppt/tags/tag1.xml><?xml version="1.0" encoding="utf-8"?>
<p:tagLst xmlns:p="http://schemas.openxmlformats.org/presentationml/2006/main">
  <p:tag name="DSHKIND" val="stats"/>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2769</Words>
  <Application>WPS 演示</Application>
  <PresentationFormat>On-screen Show (4:3)</PresentationFormat>
  <Paragraphs>136</Paragraphs>
  <Slides>12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12</vt:i4>
      </vt:variant>
    </vt:vector>
  </HeadingPairs>
  <TitlesOfParts>
    <vt:vector size="21" baseType="lpstr">
      <vt:lpstr>Arial</vt:lpstr>
      <vt:lpstr>宋体</vt:lpstr>
      <vt:lpstr>Wingdings</vt:lpstr>
      <vt:lpstr>Arial</vt:lpstr>
      <vt:lpstr>微软雅黑</vt:lpstr>
      <vt:lpstr>Calibri</vt:lpstr>
      <vt:lpstr>Arial Unicode MS</vt:lpstr>
      <vt:lpstr>MS PGothic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Y.B.</cp:lastModifiedBy>
  <cp:revision>4</cp:revision>
  <dcterms:created xsi:type="dcterms:W3CDTF">2013-01-27T09:14:00Z</dcterms:created>
  <dcterms:modified xsi:type="dcterms:W3CDTF">2026-10-18T18:28:54Z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60A9C3B4D7BD4BACA8E47F72C79C99DF_13</vt:lpwstr>
  </property>
</Properties>
</file>